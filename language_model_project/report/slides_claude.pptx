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0"/>
                </a:solidFill>
                <a:latin typeface="Arial"/>
              </a:rPr>
              <a:t>Hit@k by chunk config (synthetic_test, bge-small)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(~770w/0ov)</c:v>
                </c:pt>
              </c:strCache>
            </c:strRef>
          </c:tx>
          <c:spPr>
            <a:solidFill>
              <a:srgbClr val="9AA5AD"/>
            </a:solidFill>
            <a:ln w="31750" cap="flat">
              <a:solidFill>
                <a:srgbClr val="9AA5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AD"/>
              </a:solidFill>
              <a:ln w="9525" cap="flat">
                <a:solidFill>
                  <a:srgbClr val="9AA5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0.65</c:v>
                </c:pt>
                <c:pt idx="2">
                  <c:v>0.71</c:v>
                </c:pt>
                <c:pt idx="3">
                  <c:v>0.79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400w/80ov — carried forward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0.51</c:v>
                </c:pt>
                <c:pt idx="1">
                  <c:v>0.74</c:v>
                </c:pt>
                <c:pt idx="2">
                  <c:v>0.82</c:v>
                </c:pt>
                <c:pt idx="3">
                  <c:v>0.85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250w/50ov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0.77</c:v>
                </c:pt>
                <c:pt idx="1">
                  <c:v>0.9</c:v>
                </c:pt>
                <c:pt idx="2">
                  <c:v>0.92</c:v>
                </c:pt>
                <c:pt idx="3">
                  <c:v>0.96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Hit@k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0"/>
                </a:solidFill>
                <a:latin typeface="Arial"/>
              </a:rPr>
              <a:t>Hit@10 (exam_dev, 400_80)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bge-small (English-only)</c:v>
                </c:pt>
              </c:strCache>
            </c:strRef>
          </c:tx>
          <c:spPr>
            <a:solidFill>
              <a:srgbClr val="0B3D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Hebrew</c:v>
                  </c:pt>
                  <c:pt idx="1">
                    <c:v>Claude-translated</c:v>
                  </c:pt>
                  <c:pt idx="2">
                    <c:v>+ glossary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0.106</c:v>
                </c:pt>
                <c:pt idx="1">
                  <c:v>0.124</c:v>
                </c:pt>
                <c:pt idx="2">
                  <c:v>0.128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text-embedding-3-large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Hebrew</c:v>
                  </c:pt>
                  <c:pt idx="1">
                    <c:v>Claude-translated</c:v>
                  </c:pt>
                  <c:pt idx="2">
                    <c:v>+ glossary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0.114</c:v>
                </c:pt>
                <c:pt idx="1">
                  <c:v>0.112</c:v>
                </c:pt>
                <c:pt idx="2">
                  <c:v>0.116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0"/>
                </a:solidFill>
                <a:latin typeface="Arial"/>
              </a:rPr>
              <a:t>MRR@10 before vs. after rerank (ms-marco-MiniLM-L-6-v2)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rerank</c:v>
                </c:pt>
              </c:strCache>
            </c:strRef>
          </c:tx>
          <c:spPr>
            <a:solidFill>
              <a:srgbClr val="9AA5A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bge
syn_val</c:v>
                  </c:pt>
                  <c:pt idx="1">
                    <c:v>bge
syn_test</c:v>
                  </c:pt>
                  <c:pt idx="2">
                    <c:v>bge
exam_dev</c:v>
                  </c:pt>
                  <c:pt idx="3">
                    <c:v>openai
syn_val</c:v>
                  </c:pt>
                  <c:pt idx="4">
                    <c:v>openai
syn_test</c:v>
                  </c:pt>
                  <c:pt idx="5">
                    <c:v>openai
exam_dev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0.607</c:v>
                </c:pt>
                <c:pt idx="1">
                  <c:v>0.634</c:v>
                </c:pt>
                <c:pt idx="2">
                  <c:v>0.06</c:v>
                </c:pt>
                <c:pt idx="3">
                  <c:v>0.627</c:v>
                </c:pt>
                <c:pt idx="4">
                  <c:v>0.596</c:v>
                </c:pt>
                <c:pt idx="5">
                  <c:v>0.063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rerank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bge
syn_val</c:v>
                  </c:pt>
                  <c:pt idx="1">
                    <c:v>bge
syn_test</c:v>
                  </c:pt>
                  <c:pt idx="2">
                    <c:v>bge
exam_dev</c:v>
                  </c:pt>
                  <c:pt idx="3">
                    <c:v>openai
syn_val</c:v>
                  </c:pt>
                  <c:pt idx="4">
                    <c:v>openai
syn_test</c:v>
                  </c:pt>
                  <c:pt idx="5">
                    <c:v>openai
exam_dev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0.695</c:v>
                </c:pt>
                <c:pt idx="1">
                  <c:v>0.678</c:v>
                </c:pt>
                <c:pt idx="2">
                  <c:v>0.069</c:v>
                </c:pt>
                <c:pt idx="3">
                  <c:v>0.715</c:v>
                </c:pt>
                <c:pt idx="4">
                  <c:v>0.679</c:v>
                </c:pt>
                <c:pt idx="5">
                  <c:v>0.066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0"/>
                </a:solidFill>
                <a:latin typeface="Arial"/>
              </a:rPr>
              <a:t>MRR@10 (exam_dev, 400_80 / bge)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Hebrew</c:v>
                </c:pt>
              </c:strCache>
            </c:strRef>
          </c:tx>
          <c:spPr>
            <a:solidFill>
              <a:srgbClr val="0B3D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table/figure pointer
(n=37)</c:v>
                  </c:pt>
                  <c:pt idx="1">
                    <c:v>normal page pointer
(n=480)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0.014</c:v>
                </c:pt>
                <c:pt idx="1">
                  <c:v>0.052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Claude-translated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table/figure pointer
(n=37)</c:v>
                  </c:pt>
                  <c:pt idx="1">
                    <c:v>normal page pointer
(n=480)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0.014</c:v>
                </c:pt>
                <c:pt idx="1">
                  <c:v>0.064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0"/>
                </a:solidFill>
                <a:latin typeface="Arial"/>
              </a:rPr>
              <a:t>MCQ accuracy by arm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9AA5A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A. base,
no RAG</c:v>
                  </c:pt>
                  <c:pt idx="1">
                    <c:v>B. base
+ RAG</c:v>
                  </c:pt>
                  <c:pt idx="2">
                    <c:v>C. LoRA
+ RAG</c:v>
                  </c:pt>
                  <c:pt idx="3">
                    <c:v>D. Claude
+ RAG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</c:v>
                </c:pt>
                <c:pt idx="1">
                  <c:v>0.3</c:v>
                </c:pt>
                <c:pt idx="2">
                  <c:v>0.32</c:v>
                </c:pt>
                <c:pt idx="3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answerable</c:v>
                </c:pt>
              </c:strCache>
            </c:strRef>
          </c:tx>
          <c:spPr>
            <a:solidFill>
              <a:srgbClr val="0B3D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A. base,
no RAG</c:v>
                  </c:pt>
                  <c:pt idx="1">
                    <c:v>B. base
+ RAG</c:v>
                  </c:pt>
                  <c:pt idx="2">
                    <c:v>C. LoRA
+ RAG</c:v>
                  </c:pt>
                  <c:pt idx="3">
                    <c:v>D. Claude
+ RAG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0.22</c:v>
                </c:pt>
                <c:pt idx="1">
                  <c:v>0.31</c:v>
                </c:pt>
                <c:pt idx="2">
                  <c:v>0.31</c:v>
                </c:pt>
                <c:pt idx="3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image dependent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A. base,
no RAG</c:v>
                  </c:pt>
                  <c:pt idx="1">
                    <c:v>B. base
+ RAG</c:v>
                  </c:pt>
                  <c:pt idx="2">
                    <c:v>C. LoRA
+ RAG</c:v>
                  </c:pt>
                  <c:pt idx="3">
                    <c:v>D. Claude
+ RAG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0.26</c:v>
                </c:pt>
                <c:pt idx="1">
                  <c:v>0.28</c:v>
                </c:pt>
                <c:pt idx="2">
                  <c:v>0.34</c:v>
                </c:pt>
                <c:pt idx="3">
                  <c:v>0.57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0"/>
                </a:solidFill>
                <a:latin typeface="Arial"/>
              </a:rPr>
              <a:t>Arm A (base, no RAG)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0B3D6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65</c:v>
                </c:pt>
                <c:pt idx="2">
                  <c:v>58</c:v>
                </c:pt>
                <c:pt idx="3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74</c:v>
                </c:pt>
                <c:pt idx="2">
                  <c:v>63</c:v>
                </c:pt>
                <c:pt idx="3">
                  <c:v>42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0"/>
                </a:solidFill>
                <a:latin typeface="Arial"/>
              </a:rPr>
              <a:t>Arm D (Claude + RAG)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0B3D6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75</c:v>
                </c:pt>
                <c:pt idx="2">
                  <c:v>68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</c:v>
                </c:pt>
                <c:pt idx="1">
                  <c:v>74</c:v>
                </c:pt>
                <c:pt idx="2">
                  <c:v>62</c:v>
                </c:pt>
                <c:pt idx="3">
                  <c:v>42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F2A541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DermaForce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QLoRA for Hebrew Dermatology Board-Exam QA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Language Models  —  Group Project B (solo)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50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91056" y="4434840"/>
            <a:ext cx="1847088" cy="384048"/>
          </a:xfrm>
          <a:prstGeom prst="roundRect">
            <a:avLst>
              <a:gd name="adj" fmla="val 50000"/>
            </a:avLst>
          </a:prstGeom>
          <a:solidFill>
            <a:srgbClr val="125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91056" y="443484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39312" y="443484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1250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44348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NLP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47488" y="443484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1250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47488" y="4434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Human-verified eval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project closes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RAG chatbot already existed as a product. Missing for the course: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 — no metrics, no ablations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no failure analysis, no hallucination study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fine-tuning — hard requirement, entirely absent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evaluation — was scored on questions it generated itself (circular)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371600"/>
            <a:ext cx="4846320" cy="3931920"/>
          </a:xfrm>
          <a:prstGeom prst="roundRect">
            <a:avLst>
              <a:gd name="adj" fmla="val 23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7804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9659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949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Israeli board-exam questions (2021–2026)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3703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an independent human-expert page/chapter citation into the exact corpus indexed — no more grading on self-generated questions.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— two pipelines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0B3D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MCQ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075688" y="22357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95728" y="187452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0B3D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41448" y="18745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Translate→EN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14216" y="22357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34256" y="187452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0B3D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79976" y="18745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52744" y="22357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2784" y="187452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18504" y="18745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22357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11312" y="187452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0B3D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57032" y="18745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badge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22357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49840" y="187452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0B3D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95560" y="187452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B3D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337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37947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chunks.jsonl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075688" y="41559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95728" y="379476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441448" y="37947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014216" y="41559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34256" y="379476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79976" y="37947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52744" y="41559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72784" y="379476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18504" y="37947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Claude-distilled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891272" y="41559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11312" y="379476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F2A54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57032" y="37947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829800" y="41559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49840" y="3794760"/>
            <a:ext cx="1536192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195560" y="379476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4-arm eval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89204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731520" y="48920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experiment:  </a:t>
            </a:r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raw-Hebrew vs. translated query are compared side by side at the retrieval step — same pipeline, one variable changed.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datasets, two jobs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Bolognia + synthetic QA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6,115 chunks → 1,219 QA items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Claude-generated (circular)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/ 120 / 99, by chunk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6002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Israeli board exams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949/950 MCQs, across 7 sittings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 citation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2021–24 / hold out 2025+26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test set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required per-file format detection: 2 numbering conventions, 2 broken-glyph bugs, 3 reference formats, a 2023 cross-version alignment table, and crop-box image detection.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fix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37960" y="1371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chunker: whole pages accumulated past a word target → 766-word median chunks, zero effective overlap.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exact word-stream window with real, measured overlap.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37960" y="30632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122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400w / 80ov</a:t>
            </a:r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carried forward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3703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top scorer on this chart — the honest one, once you see why on the next slide.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Cross-lingual retrieval — the headline result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0" y="1280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057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Hit@10 for bge-small (English-only) after translating the query first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880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— real cross-lingual capability — stays flat.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75120" y="352044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03720" y="3657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2024_09 · Q57 (atopic dermatitis epidemiology)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9776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Hebrew top-1 → </a:t>
            </a:r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Diseases (wrong)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top-1 →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Atopic Dermatitis (right)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Reranker: a clean, low-risk win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7452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514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query-set × embedder combinations improved by reranking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429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Reranks top-20 candidates down to the top-10 kept for generation — a consistent gain everywhere it was tried.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distinct, worse retrieval-failure class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0" y="1325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3.7–4.6×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retrieval for table/figure-pointer references (37 of 517 dev questions)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926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 = 0% in both languages — the direct cost of dropping figure captions at extraction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75120" y="370332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03720" y="37033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retriever-side ceiling — distinct from the generator-side, image-dependent ceiling ahead.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fine-tune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3560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17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—  </a:t>
            </a:r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Qwen2.5-3B-Instruct, 4-bit NF4, LoRA rank ∈ {8, 16, 32}, trained on Colab.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2128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—  </a:t>
            </a:r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Citation-grounded answers, Claude-distilled, in the product's own [Chapter, p.N] format.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0837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 —  </a:t>
            </a:r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examples where the actual retriever misses the gold chunk are relabeled to explicit abstention — never taught to state facts absent from shown context.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96512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07822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choice  —  </a:t>
            </a:r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plateaus flat (~0.29–0.31) for all 3 ranks from step ~50; train loss drops fastest for r=32 — overfitting scales with rank, measured not assumed.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193792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519379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16</a:t>
            </a:r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carried forward: the least-overfit rank with real capacity.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4-arm MCQ accuracy (n=258, held-out 2025+2026)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75895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234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12480" y="1371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86.3%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9385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— 47/258 questions are image-dependent, unanswerable from text alone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83880" y="3108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41248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83.5%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8130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a text-only system could get right — captured by Claude+RAG. Not ‘72% accurate.”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bias: model artifact vs. exam convention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12801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526280"/>
            <a:ext cx="11292840" cy="1280160"/>
          </a:xfrm>
          <a:prstGeom prst="roundRect">
            <a:avLst>
              <a:gd name="adj" fmla="val 714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40080" y="4526280"/>
            <a:ext cx="10744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exam's own gold distribution is skewed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(option A correct 75×, D only 42× — a real exam-writing convention). </a:t>
            </a:r>
            <a:pPr indent="0" marL="0">
              <a:buNone/>
            </a:pPr>
            <a:r>
              <a:rPr lang="en-US" sz="12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shows genuine model bias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top of that (over-predicts D 2× its true rate); </a:t>
            </a:r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(Arm D) tracks the true distribution almost exactly.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 agent — live demo moment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backend/verifier.py</a:t>
            </a:r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extracts each claim + citation, checks it against the retrieved chunks, and returns a groundedness score → UI badge.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Real, correctly-cited claim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groundedness_score = 1.0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Fabricated citation on an unrelated claim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[Chapter: 12 Psoriasis, p.999]  →  citation_valid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supported = false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343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24  (87.5%)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34340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out-of-scope questions correctly abstained. The remaining 3 that didn't abstain outright still scored 0.986 groundedness — nuanced partial answers, not confident hallucination.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is a demonstrated error source (though rarely fails outright).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map is an interpolation — 122/160 chapters anchored, rest inferred (±1–2pp validated).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D (letter-generation) isn’t directly comparable to A/B/C (log-likelihood).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46304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 artifacts mean every Hit@k/MRR number is “given this gold-set geometry,” not absolute.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corpora are copyrighted, not redistributed.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Image-dependent questions: a measured, hard ceiling for any text-only system.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280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product, measured honestly against independent human ground truth — not questions it generated itself: full retrieval ablation, 4-arm comparison, QLoRA fine-tune, and a verifier that demonstrably catches hallucination.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LEVERS, BY EXPECTED PAYOFF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Re-include figure captions as retrievable text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1772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ceiling, doesn’t just measure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9392" y="30175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32461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5371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384048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training-time retrieval budget for the LoRA arm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461772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product’s top-8 context.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30175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1A25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32461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75904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84048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multi-hop / table-figure eval slices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461772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cleanly isolated as their own failure classes.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was checked against a second explanation before being written up as a finding.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F2A541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DermaForce  ·  RAG + QLoRA for Hebrew Dermatology Board-Exam QA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2026-09-14T12:02:11Z</dcterms:created>
  <dcterms:modified xsi:type="dcterms:W3CDTF">2026-09-14T12:02:11Z</dcterms:modified>
</cp:coreProperties>
</file>